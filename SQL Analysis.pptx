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7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771" autoAdjust="0"/>
  </p:normalViewPr>
  <p:slideViewPr>
    <p:cSldViewPr snapToGrid="0">
      <p:cViewPr varScale="1">
        <p:scale>
          <a:sx n="78" d="100"/>
          <a:sy n="78" d="100"/>
        </p:scale>
        <p:origin x="87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12/15/2025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9845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12/15/2025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5402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12/15/2025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3386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12/15/2025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20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12/15/2025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0896176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12/15/2025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1620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12/15/2025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1244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12/15/2025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9225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82E171BA-CC09-47C8-A6DF-F5C5CB59CEEC}" type="datetime1">
              <a:rPr lang="en-US" smtClean="0"/>
              <a:t>12/15/2025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8061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0215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85490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7DA38F49-B3E2-4BF0-BEC7-C30D34ABBB8D}" type="datetime1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2672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1" r:id="rId1"/>
    <p:sldLayoutId id="2147483872" r:id="rId2"/>
    <p:sldLayoutId id="2147483873" r:id="rId3"/>
    <p:sldLayoutId id="2147483874" r:id="rId4"/>
    <p:sldLayoutId id="2147483875" r:id="rId5"/>
    <p:sldLayoutId id="2147483876" r:id="rId6"/>
    <p:sldLayoutId id="2147483877" r:id="rId7"/>
    <p:sldLayoutId id="2147483878" r:id="rId8"/>
    <p:sldLayoutId id="2147483879" r:id="rId9"/>
    <p:sldLayoutId id="2147483880" r:id="rId10"/>
    <p:sldLayoutId id="2147483881" r:id="rId11"/>
  </p:sldLayoutIdLst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23D9B6CF-87DD-47C7-B38D-7C5353D4D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5C65D5-F39C-DB30-6006-681BE17F6B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4673" y="2133600"/>
            <a:ext cx="3044952" cy="1898904"/>
          </a:xfrm>
        </p:spPr>
        <p:txBody>
          <a:bodyPr>
            <a:normAutofit/>
          </a:bodyPr>
          <a:lstStyle/>
          <a:p>
            <a:br>
              <a:rPr lang="en-GB" sz="2600" b="0"/>
            </a:br>
            <a:r>
              <a:rPr lang="en-GB" sz="2600" b="0"/>
              <a:t>Data-Driven Insights for Growth</a:t>
            </a:r>
            <a:endParaRPr lang="en-GB" sz="260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C2E016-D8FA-32E0-F008-1B8D1AB522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93088" y="4352543"/>
            <a:ext cx="2668122" cy="1387983"/>
          </a:xfrm>
        </p:spPr>
        <p:txBody>
          <a:bodyPr>
            <a:normAutofit/>
          </a:bodyPr>
          <a:lstStyle/>
          <a:p>
            <a:r>
              <a:rPr lang="en-GB" sz="1800">
                <a:solidFill>
                  <a:srgbClr val="FFFFFF"/>
                </a:solidFill>
              </a:rPr>
              <a:t>Advanced SQL Application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FE2328B-DA12-4B90-BD82-3CCF13AF6C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4296" y="640080"/>
            <a:ext cx="6897625" cy="5263134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77FF0B6-332F-4842-A5F8-EA360BD5F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0412" y="802767"/>
            <a:ext cx="6565392" cy="49377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computer with a graph on it&#10;&#10;AI-generated content may be incorrect.">
            <a:extLst>
              <a:ext uri="{FF2B5EF4-FFF2-40B4-BE49-F238E27FC236}">
                <a16:creationId xmlns:a16="http://schemas.microsoft.com/office/drawing/2014/main" id="{041EDAC2-3CAC-2EEE-D1E8-5FFBC5D8FB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17" b="21697"/>
          <a:stretch>
            <a:fillRect/>
          </a:stretch>
        </p:blipFill>
        <p:spPr>
          <a:xfrm>
            <a:off x="5233627" y="1122807"/>
            <a:ext cx="5738962" cy="4297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6782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11C070A-FFBB-606A-D089-B98E03B557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567" y="693336"/>
            <a:ext cx="8974439" cy="598128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8E0F018-9834-6E46-3DE6-2D488240BE63}"/>
              </a:ext>
            </a:extLst>
          </p:cNvPr>
          <p:cNvSpPr txBox="1"/>
          <p:nvPr/>
        </p:nvSpPr>
        <p:spPr>
          <a:xfrm>
            <a:off x="110567" y="183382"/>
            <a:ext cx="118607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Question: Provide the list of markets in which customer 'AtliQ Exclusive' operates in the APAC region.</a:t>
            </a:r>
          </a:p>
        </p:txBody>
      </p:sp>
      <p:sp>
        <p:nvSpPr>
          <p:cNvPr id="8" name="Rectangle: Diagonal Corners Rounded 7">
            <a:extLst>
              <a:ext uri="{FF2B5EF4-FFF2-40B4-BE49-F238E27FC236}">
                <a16:creationId xmlns:a16="http://schemas.microsoft.com/office/drawing/2014/main" id="{4A462D45-F3A8-FDCF-467C-B52C97FB5F72}"/>
              </a:ext>
            </a:extLst>
          </p:cNvPr>
          <p:cNvSpPr/>
          <p:nvPr/>
        </p:nvSpPr>
        <p:spPr>
          <a:xfrm>
            <a:off x="9379974" y="1897626"/>
            <a:ext cx="2591308" cy="3283975"/>
          </a:xfrm>
          <a:prstGeom prst="round2Diag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Insight</a:t>
            </a:r>
          </a:p>
          <a:p>
            <a:pPr algn="ctr"/>
            <a:endParaRPr lang="en-GB" dirty="0"/>
          </a:p>
          <a:p>
            <a:pPr algn="ctr"/>
            <a:r>
              <a:rPr lang="en-GB" dirty="0"/>
              <a:t>AtliQ Exclusive has strong presence across 8 key APAC markets</a:t>
            </a:r>
          </a:p>
        </p:txBody>
      </p:sp>
    </p:spTree>
    <p:extLst>
      <p:ext uri="{BB962C8B-B14F-4D97-AF65-F5344CB8AC3E}">
        <p14:creationId xmlns:p14="http://schemas.microsoft.com/office/powerpoint/2010/main" val="42720816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35EC50-97F8-052C-FADA-2A3E490B0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B618197-1C81-2D99-605F-14C664E8E491}"/>
              </a:ext>
            </a:extLst>
          </p:cNvPr>
          <p:cNvSpPr txBox="1"/>
          <p:nvPr/>
        </p:nvSpPr>
        <p:spPr>
          <a:xfrm>
            <a:off x="110567" y="75363"/>
            <a:ext cx="118607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Question: How much product variety growth happened from 2020 to 2021?</a:t>
            </a:r>
          </a:p>
        </p:txBody>
      </p:sp>
      <p:sp>
        <p:nvSpPr>
          <p:cNvPr id="8" name="Rectangle: Diagonal Corners Rounded 7">
            <a:extLst>
              <a:ext uri="{FF2B5EF4-FFF2-40B4-BE49-F238E27FC236}">
                <a16:creationId xmlns:a16="http://schemas.microsoft.com/office/drawing/2014/main" id="{F52F6AE9-90A5-A2C5-6E2B-7A6AA197962C}"/>
              </a:ext>
            </a:extLst>
          </p:cNvPr>
          <p:cNvSpPr/>
          <p:nvPr/>
        </p:nvSpPr>
        <p:spPr>
          <a:xfrm>
            <a:off x="9355902" y="1732935"/>
            <a:ext cx="2615381" cy="3392130"/>
          </a:xfrm>
          <a:prstGeom prst="round2Diag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Insight: </a:t>
            </a:r>
          </a:p>
          <a:p>
            <a:pPr algn="ctr"/>
            <a:endParaRPr lang="en-GB" dirty="0"/>
          </a:p>
          <a:p>
            <a:pPr algn="ctr"/>
            <a:r>
              <a:rPr lang="en-GB" dirty="0"/>
              <a:t>89 new products launched</a:t>
            </a:r>
          </a:p>
          <a:p>
            <a:pPr algn="ctr"/>
            <a:r>
              <a:rPr lang="en-GB" dirty="0"/>
              <a:t> YoY </a:t>
            </a:r>
            <a:r>
              <a:rPr lang="en-GB" dirty="0">
                <a:highlight>
                  <a:srgbClr val="008000"/>
                </a:highlight>
              </a:rPr>
              <a:t>(+36%), </a:t>
            </a:r>
            <a:r>
              <a:rPr lang="en-GB" dirty="0"/>
              <a:t>strong portfolio expansion</a:t>
            </a:r>
          </a:p>
        </p:txBody>
      </p:sp>
      <p:pic>
        <p:nvPicPr>
          <p:cNvPr id="3" name="Picture 2" descr="A screenshot of a computer">
            <a:extLst>
              <a:ext uri="{FF2B5EF4-FFF2-40B4-BE49-F238E27FC236}">
                <a16:creationId xmlns:a16="http://schemas.microsoft.com/office/drawing/2014/main" id="{7662DDF2-3ED5-22A6-99A8-DD0AA8B3E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567" y="552714"/>
            <a:ext cx="8876117" cy="6229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02959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BD81A4-D0E9-8F09-312B-A127AFC10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9BC155D-F563-F74C-E3D6-415C31AF4D58}"/>
              </a:ext>
            </a:extLst>
          </p:cNvPr>
          <p:cNvSpPr txBox="1"/>
          <p:nvPr/>
        </p:nvSpPr>
        <p:spPr>
          <a:xfrm>
            <a:off x="110567" y="75363"/>
            <a:ext cx="118607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Question: What is the product variety in each segment?</a:t>
            </a:r>
          </a:p>
        </p:txBody>
      </p:sp>
      <p:sp>
        <p:nvSpPr>
          <p:cNvPr id="8" name="Rectangle: Diagonal Corners Rounded 7">
            <a:extLst>
              <a:ext uri="{FF2B5EF4-FFF2-40B4-BE49-F238E27FC236}">
                <a16:creationId xmlns:a16="http://schemas.microsoft.com/office/drawing/2014/main" id="{1B145C22-0768-580E-3994-C8ADAFD71D6D}"/>
              </a:ext>
            </a:extLst>
          </p:cNvPr>
          <p:cNvSpPr/>
          <p:nvPr/>
        </p:nvSpPr>
        <p:spPr>
          <a:xfrm>
            <a:off x="9355902" y="1732935"/>
            <a:ext cx="2615381" cy="3392130"/>
          </a:xfrm>
          <a:prstGeom prst="round2Diag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Insight</a:t>
            </a:r>
          </a:p>
          <a:p>
            <a:pPr algn="ctr"/>
            <a:endParaRPr lang="en-GB" dirty="0"/>
          </a:p>
          <a:p>
            <a:pPr algn="ctr"/>
            <a:r>
              <a:rPr lang="en-GB" dirty="0"/>
              <a:t>Notebooks &amp; Accessories comprise </a:t>
            </a:r>
            <a:r>
              <a:rPr lang="en-GB" dirty="0">
                <a:highlight>
                  <a:srgbClr val="008000"/>
                </a:highlight>
              </a:rPr>
              <a:t>62% </a:t>
            </a:r>
            <a:r>
              <a:rPr lang="en-GB" dirty="0"/>
              <a:t>of portfolio </a:t>
            </a:r>
          </a:p>
          <a:p>
            <a:pPr algn="ctr"/>
            <a:r>
              <a:rPr lang="en-GB" dirty="0"/>
              <a:t>(245 of 397 products)</a:t>
            </a: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7B497AD-73EE-D900-96D2-A183EE66B2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78069"/>
            <a:ext cx="9165020" cy="6204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5027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C892EE-3F64-FCCE-0F8C-8342D428A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CC752B8-5DB9-1A92-0339-8DF216CA46A9}"/>
              </a:ext>
            </a:extLst>
          </p:cNvPr>
          <p:cNvSpPr txBox="1"/>
          <p:nvPr/>
        </p:nvSpPr>
        <p:spPr>
          <a:xfrm>
            <a:off x="0" y="75363"/>
            <a:ext cx="11971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Question:  Which product segments showed highest growth in variety (2020 vs 2021)?</a:t>
            </a:r>
          </a:p>
        </p:txBody>
      </p:sp>
      <p:sp>
        <p:nvSpPr>
          <p:cNvPr id="8" name="Rectangle: Diagonal Corners Rounded 7">
            <a:extLst>
              <a:ext uri="{FF2B5EF4-FFF2-40B4-BE49-F238E27FC236}">
                <a16:creationId xmlns:a16="http://schemas.microsoft.com/office/drawing/2014/main" id="{0B03B275-A32C-F465-BF01-15F25EAE7CB2}"/>
              </a:ext>
            </a:extLst>
          </p:cNvPr>
          <p:cNvSpPr/>
          <p:nvPr/>
        </p:nvSpPr>
        <p:spPr>
          <a:xfrm>
            <a:off x="9355902" y="1732935"/>
            <a:ext cx="2615381" cy="3655142"/>
          </a:xfrm>
          <a:prstGeom prst="round2Diag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Insight:</a:t>
            </a:r>
          </a:p>
          <a:p>
            <a:pPr algn="ctr"/>
            <a:endParaRPr lang="en-GB" dirty="0"/>
          </a:p>
          <a:p>
            <a:pPr algn="ctr"/>
            <a:r>
              <a:rPr lang="en-GB" dirty="0"/>
              <a:t>Accessories </a:t>
            </a:r>
          </a:p>
          <a:p>
            <a:pPr algn="ctr"/>
            <a:r>
              <a:rPr lang="en-GB" dirty="0"/>
              <a:t>(</a:t>
            </a:r>
            <a:r>
              <a:rPr lang="en-GB" dirty="0">
                <a:highlight>
                  <a:srgbClr val="008000"/>
                </a:highlight>
              </a:rPr>
              <a:t>15% </a:t>
            </a:r>
            <a:r>
              <a:rPr lang="en-GB" dirty="0"/>
              <a:t>growth) and Notebooks</a:t>
            </a:r>
          </a:p>
          <a:p>
            <a:pPr algn="ctr"/>
            <a:r>
              <a:rPr lang="en-GB" dirty="0"/>
              <a:t> (</a:t>
            </a:r>
            <a:r>
              <a:rPr lang="en-GB" dirty="0">
                <a:highlight>
                  <a:srgbClr val="008000"/>
                </a:highlight>
              </a:rPr>
              <a:t>17% </a:t>
            </a:r>
            <a:r>
              <a:rPr lang="en-GB" dirty="0"/>
              <a:t>growth) driving expansion</a:t>
            </a: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A46DD1E-86A4-560F-8CC2-BF0CD3B457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620110"/>
            <a:ext cx="9217572" cy="6237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147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895971-2EBD-4059-EC49-769F12463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E22D38C7-8CCA-58C8-14E8-094C8D14C06F}"/>
              </a:ext>
            </a:extLst>
          </p:cNvPr>
          <p:cNvSpPr txBox="1"/>
          <p:nvPr/>
        </p:nvSpPr>
        <p:spPr>
          <a:xfrm>
            <a:off x="0" y="75363"/>
            <a:ext cx="11971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Question: What are the products with highest and lowest manufacturing costs?</a:t>
            </a:r>
          </a:p>
        </p:txBody>
      </p:sp>
      <p:sp>
        <p:nvSpPr>
          <p:cNvPr id="8" name="Rectangle: Diagonal Corners Rounded 7">
            <a:extLst>
              <a:ext uri="{FF2B5EF4-FFF2-40B4-BE49-F238E27FC236}">
                <a16:creationId xmlns:a16="http://schemas.microsoft.com/office/drawing/2014/main" id="{D9661DD7-0AE6-6ED1-DA61-C196B209039E}"/>
              </a:ext>
            </a:extLst>
          </p:cNvPr>
          <p:cNvSpPr/>
          <p:nvPr/>
        </p:nvSpPr>
        <p:spPr>
          <a:xfrm>
            <a:off x="9355902" y="1732935"/>
            <a:ext cx="2615381" cy="3655142"/>
          </a:xfrm>
          <a:prstGeom prst="round2Diag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Insight</a:t>
            </a:r>
          </a:p>
          <a:p>
            <a:pPr algn="ctr"/>
            <a:endParaRPr lang="en-GB" dirty="0"/>
          </a:p>
          <a:p>
            <a:pPr algn="ctr"/>
            <a:r>
              <a:rPr lang="en-GB" dirty="0"/>
              <a:t>Massive cost variance (300:1) between premium and budget products</a:t>
            </a: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FFC3018-2BA8-DB43-F96B-5AC2EB5EC5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567559"/>
            <a:ext cx="9101959" cy="6215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36106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E0BE00-E66C-AD6E-CCB8-B800BC7C1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395A412-9DE3-7C20-C1A3-092D70F99572}"/>
              </a:ext>
            </a:extLst>
          </p:cNvPr>
          <p:cNvSpPr txBox="1"/>
          <p:nvPr/>
        </p:nvSpPr>
        <p:spPr>
          <a:xfrm>
            <a:off x="0" y="75363"/>
            <a:ext cx="11971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Question:  What is the monthly gross sales trend for AtliQ Exclusive (2018-2019)?</a:t>
            </a:r>
          </a:p>
        </p:txBody>
      </p:sp>
      <p:sp>
        <p:nvSpPr>
          <p:cNvPr id="8" name="Rectangle: Diagonal Corners Rounded 7">
            <a:extLst>
              <a:ext uri="{FF2B5EF4-FFF2-40B4-BE49-F238E27FC236}">
                <a16:creationId xmlns:a16="http://schemas.microsoft.com/office/drawing/2014/main" id="{C81FA6EA-0D67-3A0F-A7A2-ECC59349B874}"/>
              </a:ext>
            </a:extLst>
          </p:cNvPr>
          <p:cNvSpPr/>
          <p:nvPr/>
        </p:nvSpPr>
        <p:spPr>
          <a:xfrm>
            <a:off x="9355902" y="1732935"/>
            <a:ext cx="2615381" cy="3655142"/>
          </a:xfrm>
          <a:prstGeom prst="round2Diag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Insight</a:t>
            </a:r>
          </a:p>
          <a:p>
            <a:pPr algn="ctr"/>
            <a:endParaRPr lang="en-GB" dirty="0"/>
          </a:p>
          <a:p>
            <a:pPr algn="ctr"/>
            <a:r>
              <a:rPr lang="en-GB" dirty="0"/>
              <a:t>YoY growth from 2018→2019 averages </a:t>
            </a:r>
            <a:r>
              <a:rPr lang="en-GB" dirty="0">
                <a:highlight>
                  <a:srgbClr val="008000"/>
                </a:highlight>
              </a:rPr>
              <a:t>240%, </a:t>
            </a:r>
          </a:p>
          <a:p>
            <a:pPr algn="ctr"/>
            <a:r>
              <a:rPr lang="en-GB" dirty="0"/>
              <a:t>November peak suggests seasonal buying</a:t>
            </a: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03175E8-C7B6-B0C3-BACB-137E48E3EF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67559"/>
            <a:ext cx="9196552" cy="6290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68844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3A8B2C-F6B9-C6D0-4BF0-627A6B4FF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876819B-86AD-3CC3-6165-7494157A45FD}"/>
              </a:ext>
            </a:extLst>
          </p:cNvPr>
          <p:cNvSpPr txBox="1"/>
          <p:nvPr/>
        </p:nvSpPr>
        <p:spPr>
          <a:xfrm>
            <a:off x="0" y="75363"/>
            <a:ext cx="11971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Question:  Which top 5 customers received highest average pre-invoice discount in Indian market (FY 2021)?</a:t>
            </a:r>
          </a:p>
        </p:txBody>
      </p:sp>
      <p:sp>
        <p:nvSpPr>
          <p:cNvPr id="8" name="Rectangle: Diagonal Corners Rounded 7">
            <a:extLst>
              <a:ext uri="{FF2B5EF4-FFF2-40B4-BE49-F238E27FC236}">
                <a16:creationId xmlns:a16="http://schemas.microsoft.com/office/drawing/2014/main" id="{37257037-E7C5-6381-8CEE-42E5C944C368}"/>
              </a:ext>
            </a:extLst>
          </p:cNvPr>
          <p:cNvSpPr/>
          <p:nvPr/>
        </p:nvSpPr>
        <p:spPr>
          <a:xfrm>
            <a:off x="9355902" y="1732935"/>
            <a:ext cx="2615381" cy="3655142"/>
          </a:xfrm>
          <a:prstGeom prst="round2Diag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Insight</a:t>
            </a:r>
          </a:p>
          <a:p>
            <a:pPr algn="ctr"/>
            <a:endParaRPr lang="en-GB" dirty="0"/>
          </a:p>
          <a:p>
            <a:pPr algn="ctr"/>
            <a:r>
              <a:rPr lang="en-GB" dirty="0"/>
              <a:t> Flipkart receives highest pre-invoice discounts in India market</a:t>
            </a:r>
          </a:p>
        </p:txBody>
      </p:sp>
      <p:pic>
        <p:nvPicPr>
          <p:cNvPr id="6" name="Picture 5" descr="A screenshot of a computer">
            <a:extLst>
              <a:ext uri="{FF2B5EF4-FFF2-40B4-BE49-F238E27FC236}">
                <a16:creationId xmlns:a16="http://schemas.microsoft.com/office/drawing/2014/main" id="{A82C91AB-1331-4C92-D3C7-0DC4D9F3AA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62151"/>
            <a:ext cx="9175531" cy="6195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6112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15C6A4-0868-C89C-B4CC-146468FA9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DD22338-4766-31D2-1F8A-AB07CD5287C8}"/>
              </a:ext>
            </a:extLst>
          </p:cNvPr>
          <p:cNvSpPr txBox="1"/>
          <p:nvPr/>
        </p:nvSpPr>
        <p:spPr>
          <a:xfrm>
            <a:off x="0" y="75363"/>
            <a:ext cx="11971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Question:  In which quarter of 2020 got the maximum total sold quantity?</a:t>
            </a:r>
          </a:p>
        </p:txBody>
      </p:sp>
      <p:sp>
        <p:nvSpPr>
          <p:cNvPr id="8" name="Rectangle: Diagonal Corners Rounded 7">
            <a:extLst>
              <a:ext uri="{FF2B5EF4-FFF2-40B4-BE49-F238E27FC236}">
                <a16:creationId xmlns:a16="http://schemas.microsoft.com/office/drawing/2014/main" id="{7BDD3260-C4E3-4D15-2F3F-8FC6CB716650}"/>
              </a:ext>
            </a:extLst>
          </p:cNvPr>
          <p:cNvSpPr/>
          <p:nvPr/>
        </p:nvSpPr>
        <p:spPr>
          <a:xfrm>
            <a:off x="9355902" y="1732935"/>
            <a:ext cx="2615381" cy="3655142"/>
          </a:xfrm>
          <a:prstGeom prst="round2Diag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Insight</a:t>
            </a:r>
          </a:p>
          <a:p>
            <a:pPr algn="ctr"/>
            <a:endParaRPr lang="en-GB" dirty="0"/>
          </a:p>
          <a:p>
            <a:pPr algn="ctr"/>
            <a:r>
              <a:rPr lang="en-GB" dirty="0"/>
              <a:t>Q1 2020 had highest product sales </a:t>
            </a:r>
          </a:p>
          <a:p>
            <a:pPr algn="ctr"/>
            <a:r>
              <a:rPr lang="en-GB" dirty="0"/>
              <a:t>(7M units), representing </a:t>
            </a:r>
            <a:r>
              <a:rPr lang="en-GB" dirty="0">
                <a:highlight>
                  <a:srgbClr val="008000"/>
                </a:highlight>
              </a:rPr>
              <a:t>35% </a:t>
            </a:r>
            <a:r>
              <a:rPr lang="en-GB" dirty="0"/>
              <a:t>of annual volume</a:t>
            </a: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3154BDA-C492-A307-148C-29909B9351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67559"/>
            <a:ext cx="9196552" cy="6319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9883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B0F156-F376-E8C3-6963-B753270D5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197D867-A5CF-0466-2587-60DC3210D800}"/>
              </a:ext>
            </a:extLst>
          </p:cNvPr>
          <p:cNvSpPr txBox="1"/>
          <p:nvPr/>
        </p:nvSpPr>
        <p:spPr>
          <a:xfrm>
            <a:off x="0" y="75363"/>
            <a:ext cx="11971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Question: Which channel brought more gross sales in FY 2021 and what is the percentage contribution?</a:t>
            </a:r>
          </a:p>
        </p:txBody>
      </p:sp>
      <p:sp>
        <p:nvSpPr>
          <p:cNvPr id="8" name="Rectangle: Diagonal Corners Rounded 7">
            <a:extLst>
              <a:ext uri="{FF2B5EF4-FFF2-40B4-BE49-F238E27FC236}">
                <a16:creationId xmlns:a16="http://schemas.microsoft.com/office/drawing/2014/main" id="{2A9F9554-1500-5D56-01DF-A1CEA5AA1231}"/>
              </a:ext>
            </a:extLst>
          </p:cNvPr>
          <p:cNvSpPr/>
          <p:nvPr/>
        </p:nvSpPr>
        <p:spPr>
          <a:xfrm>
            <a:off x="9355902" y="1732935"/>
            <a:ext cx="2615381" cy="3655142"/>
          </a:xfrm>
          <a:prstGeom prst="round2Diag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Insight</a:t>
            </a:r>
          </a:p>
          <a:p>
            <a:pPr algn="ctr"/>
            <a:endParaRPr lang="en-GB" dirty="0"/>
          </a:p>
          <a:p>
            <a:pPr algn="ctr"/>
            <a:r>
              <a:rPr lang="en-GB" dirty="0"/>
              <a:t>Retail channel dominates with </a:t>
            </a:r>
            <a:r>
              <a:rPr lang="en-GB" dirty="0">
                <a:highlight>
                  <a:srgbClr val="008000"/>
                </a:highlight>
              </a:rPr>
              <a:t>73% </a:t>
            </a:r>
            <a:r>
              <a:rPr lang="en-GB" dirty="0"/>
              <a:t>of gross sales (₹12.2B), strategic focus area</a:t>
            </a: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BBFE419-8C4E-DE02-74C2-C1742A6B77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8578"/>
            <a:ext cx="9217572" cy="6269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7798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1AFF5C-EE0B-D6CA-C69F-270399784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2362096-066B-5708-C5DB-B4C224EDC367}"/>
              </a:ext>
            </a:extLst>
          </p:cNvPr>
          <p:cNvSpPr txBox="1"/>
          <p:nvPr/>
        </p:nvSpPr>
        <p:spPr>
          <a:xfrm>
            <a:off x="0" y="75363"/>
            <a:ext cx="11971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Question:   What are the top 3 selling products in each division for 2021?</a:t>
            </a:r>
          </a:p>
        </p:txBody>
      </p:sp>
      <p:sp>
        <p:nvSpPr>
          <p:cNvPr id="8" name="Rectangle: Diagonal Corners Rounded 7">
            <a:extLst>
              <a:ext uri="{FF2B5EF4-FFF2-40B4-BE49-F238E27FC236}">
                <a16:creationId xmlns:a16="http://schemas.microsoft.com/office/drawing/2014/main" id="{230A9EF9-F0A6-4A29-2553-7A9DB5DA8B87}"/>
              </a:ext>
            </a:extLst>
          </p:cNvPr>
          <p:cNvSpPr/>
          <p:nvPr/>
        </p:nvSpPr>
        <p:spPr>
          <a:xfrm>
            <a:off x="9355902" y="1732935"/>
            <a:ext cx="2615381" cy="3655142"/>
          </a:xfrm>
          <a:prstGeom prst="round2Diag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Insight</a:t>
            </a:r>
          </a:p>
          <a:p>
            <a:pPr algn="ctr"/>
            <a:endParaRPr lang="en-GB" dirty="0"/>
          </a:p>
          <a:p>
            <a:pPr algn="ctr"/>
            <a:r>
              <a:rPr lang="en-GB" dirty="0"/>
              <a:t>Pen drives lead N&amp;S division; </a:t>
            </a:r>
          </a:p>
          <a:p>
            <a:pPr algn="ctr"/>
            <a:r>
              <a:rPr lang="en-GB" dirty="0"/>
              <a:t>Gaming mice dominate P&amp;A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3FE525F-FDE9-1E97-EB93-32916BCCAA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78068"/>
            <a:ext cx="9196552" cy="6279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14468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CD0DD6-B447-AED7-3801-2B5DEAB0D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DAC9D62-7DE9-52E4-2CD4-38D3B4F83AA3}"/>
              </a:ext>
            </a:extLst>
          </p:cNvPr>
          <p:cNvSpPr txBox="1"/>
          <p:nvPr/>
        </p:nvSpPr>
        <p:spPr>
          <a:xfrm>
            <a:off x="0" y="75363"/>
            <a:ext cx="11971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Question:   What are the top 3 selling products in each division for 2021?</a:t>
            </a:r>
          </a:p>
        </p:txBody>
      </p:sp>
      <p:sp>
        <p:nvSpPr>
          <p:cNvPr id="8" name="Rectangle: Diagonal Corners Rounded 7">
            <a:extLst>
              <a:ext uri="{FF2B5EF4-FFF2-40B4-BE49-F238E27FC236}">
                <a16:creationId xmlns:a16="http://schemas.microsoft.com/office/drawing/2014/main" id="{D04B4232-EEDA-0917-3CE5-43492C41C0B3}"/>
              </a:ext>
            </a:extLst>
          </p:cNvPr>
          <p:cNvSpPr/>
          <p:nvPr/>
        </p:nvSpPr>
        <p:spPr>
          <a:xfrm>
            <a:off x="9355902" y="1732935"/>
            <a:ext cx="2615381" cy="3655142"/>
          </a:xfrm>
          <a:prstGeom prst="round2Diag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Insight</a:t>
            </a:r>
          </a:p>
          <a:p>
            <a:pPr algn="ctr"/>
            <a:endParaRPr lang="en-GB" dirty="0"/>
          </a:p>
          <a:p>
            <a:pPr algn="ctr"/>
            <a:r>
              <a:rPr lang="en-GB" dirty="0"/>
              <a:t>Pen drives lead N&amp;S division; </a:t>
            </a:r>
          </a:p>
          <a:p>
            <a:pPr algn="ctr"/>
            <a:r>
              <a:rPr lang="en-GB" dirty="0"/>
              <a:t>Gaming mice dominate P&amp;A</a:t>
            </a:r>
          </a:p>
        </p:txBody>
      </p:sp>
    </p:spTree>
    <p:extLst>
      <p:ext uri="{BB962C8B-B14F-4D97-AF65-F5344CB8AC3E}">
        <p14:creationId xmlns:p14="http://schemas.microsoft.com/office/powerpoint/2010/main" val="1512077138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TM10001115[[fn=Parcel]]</Template>
  <TotalTime>103</TotalTime>
  <Words>333</Words>
  <Application>Microsoft Office PowerPoint</Application>
  <PresentationFormat>Widescreen</PresentationFormat>
  <Paragraphs>54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Gill Sans MT</vt:lpstr>
      <vt:lpstr>Parcel</vt:lpstr>
      <vt:lpstr> Data-Driven Insights for Growth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HP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Abida K H [MBA - 2023]</dc:creator>
  <cp:lastModifiedBy>Abida K H [MBA - 2023]</cp:lastModifiedBy>
  <cp:revision>3</cp:revision>
  <dcterms:created xsi:type="dcterms:W3CDTF">2025-12-14T21:19:21Z</dcterms:created>
  <dcterms:modified xsi:type="dcterms:W3CDTF">2025-12-14T23:03:08Z</dcterms:modified>
</cp:coreProperties>
</file>