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84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4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961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6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2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2E171BA-CC09-47C8-A6DF-F5C5CB59CEEC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2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4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3D9B6CF-87DD-47C7-B38D-7C5353D4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C65D5-F39C-DB30-6006-681BE17F6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3" y="2133600"/>
            <a:ext cx="3044952" cy="1898904"/>
          </a:xfrm>
        </p:spPr>
        <p:txBody>
          <a:bodyPr>
            <a:normAutofit/>
          </a:bodyPr>
          <a:lstStyle/>
          <a:p>
            <a:br>
              <a:rPr lang="en-GB" sz="2600" b="0"/>
            </a:br>
            <a:r>
              <a:rPr lang="en-GB" sz="2600" b="0"/>
              <a:t>Data-Driven Insights for Growth</a:t>
            </a:r>
            <a:endParaRPr lang="en-GB" sz="2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2E016-D8FA-32E0-F008-1B8D1AB52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88" y="4352543"/>
            <a:ext cx="2668122" cy="1387983"/>
          </a:xfrm>
        </p:spPr>
        <p:txBody>
          <a:bodyPr>
            <a:normAutofit/>
          </a:bodyPr>
          <a:lstStyle/>
          <a:p>
            <a:r>
              <a:rPr lang="en-GB" sz="1800">
                <a:solidFill>
                  <a:srgbClr val="FFFFFF"/>
                </a:solidFill>
              </a:rPr>
              <a:t>Advanced SQL Application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2328B-DA12-4B90-BD82-3CCF13AF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640080"/>
            <a:ext cx="6897625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7FF0B6-332F-4842-A5F8-EA360BD5F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0412" y="802767"/>
            <a:ext cx="6565392" cy="493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with a graph on it&#10;&#10;AI-generated content may be incorrect.">
            <a:extLst>
              <a:ext uri="{FF2B5EF4-FFF2-40B4-BE49-F238E27FC236}">
                <a16:creationId xmlns:a16="http://schemas.microsoft.com/office/drawing/2014/main" id="{041EDAC2-3CAC-2EEE-D1E8-5FFBC5D8F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7" b="21697"/>
          <a:stretch>
            <a:fillRect/>
          </a:stretch>
        </p:blipFill>
        <p:spPr>
          <a:xfrm>
            <a:off x="5233627" y="1122807"/>
            <a:ext cx="5738962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78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1C070A-FFBB-606A-D089-B98E03B55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" y="693336"/>
            <a:ext cx="8974439" cy="5981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0F018-9834-6E46-3DE6-2D488240BE63}"/>
              </a:ext>
            </a:extLst>
          </p:cNvPr>
          <p:cNvSpPr txBox="1"/>
          <p:nvPr/>
        </p:nvSpPr>
        <p:spPr>
          <a:xfrm>
            <a:off x="110567" y="183382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Provide the list of markets in which customer 'AtliQ Exclusive' operates in the APAC region.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4A462D45-F3A8-FDCF-467C-B52C97FB5F72}"/>
              </a:ext>
            </a:extLst>
          </p:cNvPr>
          <p:cNvSpPr/>
          <p:nvPr/>
        </p:nvSpPr>
        <p:spPr>
          <a:xfrm>
            <a:off x="9379974" y="1897626"/>
            <a:ext cx="2591308" cy="3283975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AtliQ Exclusive has strong presence across 8 key APAC markets</a:t>
            </a:r>
          </a:p>
        </p:txBody>
      </p:sp>
    </p:spTree>
    <p:extLst>
      <p:ext uri="{BB962C8B-B14F-4D97-AF65-F5344CB8AC3E}">
        <p14:creationId xmlns:p14="http://schemas.microsoft.com/office/powerpoint/2010/main" val="427208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5EC50-97F8-052C-FADA-2A3E490B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618197-1C81-2D99-605F-14C664E8E491}"/>
              </a:ext>
            </a:extLst>
          </p:cNvPr>
          <p:cNvSpPr txBox="1"/>
          <p:nvPr/>
        </p:nvSpPr>
        <p:spPr>
          <a:xfrm>
            <a:off x="110567" y="75363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How much product variety growth happened from 2020 to 2021?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52F6AE9-90A5-A2C5-6E2B-7A6AA197962C}"/>
              </a:ext>
            </a:extLst>
          </p:cNvPr>
          <p:cNvSpPr/>
          <p:nvPr/>
        </p:nvSpPr>
        <p:spPr>
          <a:xfrm>
            <a:off x="9355902" y="1732935"/>
            <a:ext cx="2615381" cy="3392130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Insight: 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89 new products launched</a:t>
            </a:r>
          </a:p>
          <a:p>
            <a:pPr algn="ctr"/>
            <a:r>
              <a:rPr lang="en-GB" dirty="0"/>
              <a:t> YoY </a:t>
            </a:r>
            <a:r>
              <a:rPr lang="en-GB" dirty="0">
                <a:highlight>
                  <a:srgbClr val="008000"/>
                </a:highlight>
              </a:rPr>
              <a:t>(+36%), </a:t>
            </a:r>
            <a:r>
              <a:rPr lang="en-GB" dirty="0"/>
              <a:t>strong portfolio expansion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662DDF2-3ED5-22A6-99A8-DD0AA8B3E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7" y="552714"/>
            <a:ext cx="8876117" cy="622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9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D81A4-D0E9-8F09-312B-A127AFC1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BC155D-F563-F74C-E3D6-415C31AF4D58}"/>
              </a:ext>
            </a:extLst>
          </p:cNvPr>
          <p:cNvSpPr txBox="1"/>
          <p:nvPr/>
        </p:nvSpPr>
        <p:spPr>
          <a:xfrm>
            <a:off x="110567" y="75363"/>
            <a:ext cx="11860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What is the product variety in each segment?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1B145C22-0768-580E-3994-C8ADAFD71D6D}"/>
              </a:ext>
            </a:extLst>
          </p:cNvPr>
          <p:cNvSpPr/>
          <p:nvPr/>
        </p:nvSpPr>
        <p:spPr>
          <a:xfrm>
            <a:off x="9355902" y="1732935"/>
            <a:ext cx="2615381" cy="3392130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Notebooks &amp; Accessories comprise </a:t>
            </a:r>
            <a:r>
              <a:rPr lang="en-GB" dirty="0">
                <a:highlight>
                  <a:srgbClr val="008000"/>
                </a:highlight>
              </a:rPr>
              <a:t>62% </a:t>
            </a:r>
            <a:r>
              <a:rPr lang="en-GB" dirty="0"/>
              <a:t>of portfolio </a:t>
            </a:r>
          </a:p>
          <a:p>
            <a:pPr algn="ctr"/>
            <a:r>
              <a:rPr lang="en-GB" dirty="0"/>
              <a:t>(245 of 397 products)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B497AD-73EE-D900-96D2-A183EE66B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78069"/>
            <a:ext cx="9165020" cy="620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0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892EE-3F64-FCCE-0F8C-8342D428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C752B8-5DB9-1A92-0339-8DF216CA46A9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Which product segments showed highest growth in variety (2020 vs 2021)?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0B03B275-A32C-F465-BF01-15F25EAE7CB2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Insight: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Accessories </a:t>
            </a:r>
          </a:p>
          <a:p>
            <a:pPr algn="ctr"/>
            <a:r>
              <a:rPr lang="en-GB" dirty="0"/>
              <a:t>(</a:t>
            </a:r>
            <a:r>
              <a:rPr lang="en-GB" dirty="0">
                <a:highlight>
                  <a:srgbClr val="008000"/>
                </a:highlight>
              </a:rPr>
              <a:t>15% </a:t>
            </a:r>
            <a:r>
              <a:rPr lang="en-GB" dirty="0"/>
              <a:t>growth) and Notebooks</a:t>
            </a:r>
          </a:p>
          <a:p>
            <a:pPr algn="ctr"/>
            <a:r>
              <a:rPr lang="en-GB" dirty="0"/>
              <a:t> (</a:t>
            </a:r>
            <a:r>
              <a:rPr lang="en-GB" dirty="0">
                <a:highlight>
                  <a:srgbClr val="008000"/>
                </a:highlight>
              </a:rPr>
              <a:t>17% </a:t>
            </a:r>
            <a:r>
              <a:rPr lang="en-GB" dirty="0"/>
              <a:t>growth) driving expansion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6DD1E-86A4-560F-8CC2-BF0CD3B45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0110"/>
            <a:ext cx="9217572" cy="62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1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5971-2EBD-4059-EC49-769F1246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22D38C7-8CCA-58C8-14E8-094C8D14C06F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What are the products with highest and lowest manufacturing costs?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9661DD7-0AE6-6ED1-DA61-C196B209039E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Massive cost variance (300:1) between premium and budget products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C3018-2BA8-DB43-F96B-5AC2EB5EC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7559"/>
            <a:ext cx="9101959" cy="621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0BE00-E66C-AD6E-CCB8-B800BC7C1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95A412-9DE3-7C20-C1A3-092D70F99572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What is the monthly gross sales trend for AtliQ Exclusive (2018-2019)?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C81FA6EA-0D67-3A0F-A7A2-ECC59349B874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YoY growth from 2018→2019 averages </a:t>
            </a:r>
            <a:r>
              <a:rPr lang="en-GB" dirty="0">
                <a:highlight>
                  <a:srgbClr val="008000"/>
                </a:highlight>
              </a:rPr>
              <a:t>240%, </a:t>
            </a:r>
          </a:p>
          <a:p>
            <a:pPr algn="ctr"/>
            <a:r>
              <a:rPr lang="en-GB" dirty="0"/>
              <a:t>November peak suggests seasonal buying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3175E8-C7B6-B0C3-BACB-137E48E3E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559"/>
            <a:ext cx="9196552" cy="62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8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A8B2C-F6B9-C6D0-4BF0-627A6B4F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76819B-86AD-3CC3-6165-7494157A45FD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Which top 5 customers received highest average pre-invoice discount in Indian market (FY 2021)?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7257037-E7C5-6381-8CEE-42E5C944C368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 Flipkart receives highest pre-invoice discounts in India market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82C91AB-1331-4C92-D3C7-0DC4D9F3A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2151"/>
            <a:ext cx="9175531" cy="61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5C6A4-0868-C89C-B4CC-146468FA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D22338-4766-31D2-1F8A-AB07CD5287C8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In which quarter of 2020 got the maximum total sold quantity?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7BDD3260-C4E3-4D15-2F3F-8FC6CB716650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Q1 2020 had highest product sales </a:t>
            </a:r>
          </a:p>
          <a:p>
            <a:pPr algn="ctr"/>
            <a:r>
              <a:rPr lang="en-GB" dirty="0"/>
              <a:t>(7M units), representing </a:t>
            </a:r>
            <a:r>
              <a:rPr lang="en-GB" dirty="0">
                <a:highlight>
                  <a:srgbClr val="008000"/>
                </a:highlight>
              </a:rPr>
              <a:t>35% </a:t>
            </a:r>
            <a:r>
              <a:rPr lang="en-GB" dirty="0"/>
              <a:t>of annual volume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154BDA-C492-A307-148C-29909B935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559"/>
            <a:ext cx="9196552" cy="631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8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0F156-F376-E8C3-6963-B753270D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197D867-A5CF-0466-2587-60DC3210D800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Which channel brought more gross sales in FY 2021 and what is the percentage contribution?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A9F9554-1500-5D56-01DF-A1CEA5AA1231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Retail channel dominates with </a:t>
            </a:r>
            <a:r>
              <a:rPr lang="en-GB" dirty="0">
                <a:highlight>
                  <a:srgbClr val="008000"/>
                </a:highlight>
              </a:rPr>
              <a:t>73% </a:t>
            </a:r>
            <a:r>
              <a:rPr lang="en-GB" dirty="0"/>
              <a:t>of gross sales (₹12.2B), strategic focus area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FE419-8C4E-DE02-74C2-C1742A6B7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578"/>
            <a:ext cx="9217572" cy="626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7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AFF5C-EE0B-D6CA-C69F-27039978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362096-066B-5708-C5DB-B4C224EDC367}"/>
              </a:ext>
            </a:extLst>
          </p:cNvPr>
          <p:cNvSpPr txBox="1"/>
          <p:nvPr/>
        </p:nvSpPr>
        <p:spPr>
          <a:xfrm>
            <a:off x="0" y="75363"/>
            <a:ext cx="1197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Question:   What are the top 3 selling products in each division for 2021?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230A9EF9-F0A6-4A29-2553-7A9DB5DA8B87}"/>
              </a:ext>
            </a:extLst>
          </p:cNvPr>
          <p:cNvSpPr/>
          <p:nvPr/>
        </p:nvSpPr>
        <p:spPr>
          <a:xfrm>
            <a:off x="9355902" y="1732935"/>
            <a:ext cx="2615381" cy="3655142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Insight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Pen drives lead N&amp;S division; </a:t>
            </a:r>
          </a:p>
          <a:p>
            <a:pPr algn="ctr"/>
            <a:r>
              <a:rPr lang="en-GB" dirty="0"/>
              <a:t>Gaming mice dominate P&amp;A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FE525F-FDE9-1E97-EB93-32916BCC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8068"/>
            <a:ext cx="9196552" cy="627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46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10EAF-CDB9-97A7-63ED-65E81B72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083E8406-9AAC-66D9-C3B3-B163BB0E765C}"/>
              </a:ext>
            </a:extLst>
          </p:cNvPr>
          <p:cNvSpPr/>
          <p:nvPr/>
        </p:nvSpPr>
        <p:spPr>
          <a:xfrm>
            <a:off x="186813" y="314632"/>
            <a:ext cx="11788877" cy="6351639"/>
          </a:xfrm>
          <a:prstGeom prst="round2Diag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📌 </a:t>
            </a:r>
            <a:r>
              <a:rPr lang="en-GB" b="1" dirty="0">
                <a:solidFill>
                  <a:schemeClr val="bg1"/>
                </a:solidFill>
              </a:rPr>
              <a:t>KEY INSIGHTS SUMMARY</a:t>
            </a:r>
            <a:endParaRPr lang="en-GB" dirty="0">
              <a:solidFill>
                <a:schemeClr val="bg1"/>
              </a:solidFill>
            </a:endParaRP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📈 </a:t>
            </a:r>
            <a:r>
              <a:rPr lang="en-GB" b="1" dirty="0">
                <a:solidFill>
                  <a:schemeClr val="bg1"/>
                </a:solidFill>
              </a:rPr>
              <a:t>Seasonality Trend:</a:t>
            </a:r>
            <a:r>
              <a:rPr lang="en-GB" dirty="0">
                <a:solidFill>
                  <a:schemeClr val="bg1"/>
                </a:solidFill>
              </a:rPr>
              <a:t> Q1 2020 recorded peak sales with </a:t>
            </a:r>
            <a:r>
              <a:rPr lang="en-GB" b="1" dirty="0">
                <a:solidFill>
                  <a:schemeClr val="bg1"/>
                </a:solidFill>
              </a:rPr>
              <a:t>7M units</a:t>
            </a:r>
            <a:r>
              <a:rPr lang="en-GB" dirty="0">
                <a:solidFill>
                  <a:schemeClr val="bg1"/>
                </a:solidFill>
              </a:rPr>
              <a:t>, indicating a strong seasonal pattern.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🏬 </a:t>
            </a:r>
            <a:r>
              <a:rPr lang="en-GB" b="1" dirty="0">
                <a:solidFill>
                  <a:schemeClr val="bg1"/>
                </a:solidFill>
              </a:rPr>
              <a:t>Channel Performance:</a:t>
            </a:r>
            <a:r>
              <a:rPr lang="en-GB" dirty="0">
                <a:solidFill>
                  <a:schemeClr val="bg1"/>
                </a:solidFill>
              </a:rPr>
              <a:t> Retailer channel dominates, contributing </a:t>
            </a:r>
            <a:r>
              <a:rPr lang="en-GB" b="1" dirty="0">
                <a:solidFill>
                  <a:schemeClr val="bg1"/>
                </a:solidFill>
              </a:rPr>
              <a:t>73% of gross sales (₹12.2B)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📦 </a:t>
            </a:r>
            <a:r>
              <a:rPr lang="en-GB" b="1" dirty="0">
                <a:solidFill>
                  <a:schemeClr val="bg1"/>
                </a:solidFill>
              </a:rPr>
              <a:t>Product Expansion:</a:t>
            </a:r>
            <a:r>
              <a:rPr lang="en-GB" dirty="0">
                <a:solidFill>
                  <a:schemeClr val="bg1"/>
                </a:solidFill>
              </a:rPr>
              <a:t> Product portfolio grew </a:t>
            </a:r>
            <a:r>
              <a:rPr lang="en-GB" b="1" dirty="0">
                <a:solidFill>
                  <a:schemeClr val="bg1"/>
                </a:solidFill>
              </a:rPr>
              <a:t>36% YoY</a:t>
            </a:r>
            <a:r>
              <a:rPr lang="en-GB" dirty="0">
                <a:solidFill>
                  <a:schemeClr val="bg1"/>
                </a:solidFill>
              </a:rPr>
              <a:t>, expanding from </a:t>
            </a:r>
            <a:r>
              <a:rPr lang="en-GB" b="1" dirty="0">
                <a:solidFill>
                  <a:schemeClr val="bg1"/>
                </a:solidFill>
              </a:rPr>
              <a:t>245 to 334 unique products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🎧 </a:t>
            </a:r>
            <a:r>
              <a:rPr lang="en-GB" b="1" dirty="0">
                <a:solidFill>
                  <a:schemeClr val="bg1"/>
                </a:solidFill>
              </a:rPr>
              <a:t>Fastest-Growing Segment:</a:t>
            </a:r>
            <a:r>
              <a:rPr lang="en-GB" dirty="0">
                <a:solidFill>
                  <a:schemeClr val="bg1"/>
                </a:solidFill>
              </a:rPr>
              <a:t> Accessories segment led growth with </a:t>
            </a:r>
            <a:r>
              <a:rPr lang="en-GB" b="1" dirty="0">
                <a:solidFill>
                  <a:schemeClr val="bg1"/>
                </a:solidFill>
              </a:rPr>
              <a:t>+34 new products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💾 </a:t>
            </a:r>
            <a:r>
              <a:rPr lang="en-GB" b="1" dirty="0">
                <a:solidFill>
                  <a:schemeClr val="bg1"/>
                </a:solidFill>
              </a:rPr>
              <a:t>Star Products:</a:t>
            </a:r>
            <a:r>
              <a:rPr lang="en-GB" dirty="0">
                <a:solidFill>
                  <a:schemeClr val="bg1"/>
                </a:solidFill>
              </a:rPr>
              <a:t> Pen drives emerged as top performers in the </a:t>
            </a:r>
            <a:r>
              <a:rPr lang="en-GB" b="1" dirty="0">
                <a:solidFill>
                  <a:schemeClr val="bg1"/>
                </a:solidFill>
              </a:rPr>
              <a:t>N&amp;S division</a:t>
            </a:r>
            <a:r>
              <a:rPr lang="en-GB" dirty="0">
                <a:solidFill>
                  <a:schemeClr val="bg1"/>
                </a:solidFill>
              </a:rPr>
              <a:t>, exceeding </a:t>
            </a:r>
            <a:r>
              <a:rPr lang="en-GB" b="1" dirty="0">
                <a:solidFill>
                  <a:schemeClr val="bg1"/>
                </a:solidFill>
              </a:rPr>
              <a:t>700K units</a:t>
            </a:r>
            <a:r>
              <a:rPr lang="en-GB" dirty="0">
                <a:solidFill>
                  <a:schemeClr val="bg1"/>
                </a:solidFill>
              </a:rPr>
              <a:t> sold.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🚀 </a:t>
            </a:r>
            <a:r>
              <a:rPr lang="en-GB" b="1" dirty="0">
                <a:solidFill>
                  <a:schemeClr val="bg1"/>
                </a:solidFill>
              </a:rPr>
              <a:t>Customer Growth: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AtliQ Exclusive</a:t>
            </a:r>
            <a:r>
              <a:rPr lang="en-GB" dirty="0">
                <a:solidFill>
                  <a:schemeClr val="bg1"/>
                </a:solidFill>
              </a:rPr>
              <a:t> demonstrated strong momentum with </a:t>
            </a:r>
            <a:r>
              <a:rPr lang="en-GB" b="1" dirty="0">
                <a:solidFill>
                  <a:schemeClr val="bg1"/>
                </a:solidFill>
              </a:rPr>
              <a:t>240%+ YoY growth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r>
              <a:rPr lang="en-GB" dirty="0">
                <a:solidFill>
                  <a:schemeClr val="bg1"/>
                </a:solidFill>
              </a:rPr>
              <a:t>🌏 </a:t>
            </a:r>
            <a:r>
              <a:rPr lang="en-GB" b="1" dirty="0">
                <a:solidFill>
                  <a:schemeClr val="bg1"/>
                </a:solidFill>
              </a:rPr>
              <a:t>Geographic Focus:</a:t>
            </a:r>
            <a:r>
              <a:rPr lang="en-GB" dirty="0">
                <a:solidFill>
                  <a:schemeClr val="bg1"/>
                </a:solidFill>
              </a:rPr>
              <a:t> Strategic presence across </a:t>
            </a:r>
            <a:r>
              <a:rPr lang="en-GB" b="1" dirty="0">
                <a:solidFill>
                  <a:schemeClr val="bg1"/>
                </a:solidFill>
              </a:rPr>
              <a:t>8 key APAC markets</a:t>
            </a:r>
            <a:r>
              <a:rPr lang="en-GB" dirty="0">
                <a:solidFill>
                  <a:schemeClr val="bg1"/>
                </a:solidFill>
              </a:rPr>
              <a:t> for AtliQ Exclusive.</a:t>
            </a:r>
          </a:p>
        </p:txBody>
      </p:sp>
    </p:spTree>
    <p:extLst>
      <p:ext uri="{BB962C8B-B14F-4D97-AF65-F5344CB8AC3E}">
        <p14:creationId xmlns:p14="http://schemas.microsoft.com/office/powerpoint/2010/main" val="284820684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147</TotalTime>
  <Words>429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 Data-Driven Insights for 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Abida K H [MBA - 2023]</dc:creator>
  <cp:lastModifiedBy>Abida K H [MBA - 2023]</cp:lastModifiedBy>
  <cp:revision>5</cp:revision>
  <dcterms:created xsi:type="dcterms:W3CDTF">2025-12-14T21:19:21Z</dcterms:created>
  <dcterms:modified xsi:type="dcterms:W3CDTF">2025-12-15T00:04:33Z</dcterms:modified>
</cp:coreProperties>
</file>